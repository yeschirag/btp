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Open Sans" panose="020F0502020204030204" pitchFamily="34" charset="0"/>
      <p:regular r:id="rId15"/>
    </p:embeddedFont>
    <p:embeddedFont>
      <p:font typeface="Open Sans Bold" panose="020B0604020202020204" charset="0"/>
      <p:regular r:id="rId16"/>
    </p:embeddedFont>
    <p:embeddedFont>
      <p:font typeface="Roboto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240" y="-7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1781" y="765767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455619" y="8743950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201900" y="-139509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13333810" y="-1543050"/>
            <a:ext cx="3086100" cy="308610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94851" y="2853338"/>
            <a:ext cx="13936275" cy="33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40"/>
              </a:lnSpc>
            </a:pPr>
            <a:r>
              <a:rPr lang="en-US" sz="6386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LIGHTWEIGHT PREFETCH-RESILIENT LLC REPLACEMENT POLICY</a:t>
            </a:r>
          </a:p>
          <a:p>
            <a:pPr algn="ctr">
              <a:lnSpc>
                <a:spcPts val="8940"/>
              </a:lnSpc>
            </a:pPr>
            <a:endParaRPr lang="en-US" sz="6386" b="1">
              <a:solidFill>
                <a:srgbClr val="31404B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936188" y="1920463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-2048664" y="4832351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5061684" y="5354929"/>
            <a:ext cx="8164632" cy="21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Presentation by Sharma Chirag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Roll No. : S20240010223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Guide : Dr . Bheemappa Halavar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9871" y="-3330162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969240" y="542925"/>
            <a:ext cx="6349520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Overview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125146" y="2865979"/>
            <a:ext cx="6193614" cy="930026"/>
            <a:chOff x="0" y="0"/>
            <a:chExt cx="1577742" cy="2369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7742" cy="236912"/>
            </a:xfrm>
            <a:custGeom>
              <a:avLst/>
              <a:gdLst/>
              <a:ahLst/>
              <a:cxnLst/>
              <a:rect l="l" t="t" r="r" b="b"/>
              <a:pathLst>
                <a:path w="1577742" h="236912">
                  <a:moveTo>
                    <a:pt x="38750" y="0"/>
                  </a:moveTo>
                  <a:lnTo>
                    <a:pt x="1538992" y="0"/>
                  </a:lnTo>
                  <a:cubicBezTo>
                    <a:pt x="1549269" y="0"/>
                    <a:pt x="1559125" y="4083"/>
                    <a:pt x="1566392" y="11349"/>
                  </a:cubicBezTo>
                  <a:cubicBezTo>
                    <a:pt x="1573659" y="18616"/>
                    <a:pt x="1577742" y="28472"/>
                    <a:pt x="1577742" y="38750"/>
                  </a:cubicBezTo>
                  <a:lnTo>
                    <a:pt x="1577742" y="198162"/>
                  </a:lnTo>
                  <a:cubicBezTo>
                    <a:pt x="1577742" y="219563"/>
                    <a:pt x="1560393" y="236912"/>
                    <a:pt x="1538992" y="236912"/>
                  </a:cubicBezTo>
                  <a:lnTo>
                    <a:pt x="38750" y="236912"/>
                  </a:lnTo>
                  <a:cubicBezTo>
                    <a:pt x="28472" y="236912"/>
                    <a:pt x="18616" y="232829"/>
                    <a:pt x="11349" y="225562"/>
                  </a:cubicBezTo>
                  <a:cubicBezTo>
                    <a:pt x="4083" y="218295"/>
                    <a:pt x="0" y="208439"/>
                    <a:pt x="0" y="198162"/>
                  </a:cubicBezTo>
                  <a:lnTo>
                    <a:pt x="0" y="38750"/>
                  </a:lnTo>
                  <a:cubicBezTo>
                    <a:pt x="0" y="28472"/>
                    <a:pt x="4083" y="18616"/>
                    <a:pt x="11349" y="11349"/>
                  </a:cubicBezTo>
                  <a:cubicBezTo>
                    <a:pt x="18616" y="4083"/>
                    <a:pt x="28472" y="0"/>
                    <a:pt x="3875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77742" cy="275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935750" y="2952465"/>
            <a:ext cx="4820212" cy="69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89"/>
              </a:lnSpc>
            </a:pPr>
            <a:r>
              <a:rPr lang="en-US" sz="413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Literature Review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227553" y="2701924"/>
            <a:ext cx="1708197" cy="1258135"/>
            <a:chOff x="0" y="0"/>
            <a:chExt cx="1103556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3556" cy="812800"/>
            </a:xfrm>
            <a:custGeom>
              <a:avLst/>
              <a:gdLst/>
              <a:ahLst/>
              <a:cxnLst/>
              <a:rect l="l" t="t" r="r" b="b"/>
              <a:pathLst>
                <a:path w="1103556" h="812800">
                  <a:moveTo>
                    <a:pt x="551778" y="0"/>
                  </a:moveTo>
                  <a:cubicBezTo>
                    <a:pt x="247039" y="0"/>
                    <a:pt x="0" y="181951"/>
                    <a:pt x="0" y="406400"/>
                  </a:cubicBezTo>
                  <a:cubicBezTo>
                    <a:pt x="0" y="630849"/>
                    <a:pt x="247039" y="812800"/>
                    <a:pt x="551778" y="812800"/>
                  </a:cubicBezTo>
                  <a:cubicBezTo>
                    <a:pt x="856516" y="812800"/>
                    <a:pt x="1103556" y="630849"/>
                    <a:pt x="1103556" y="406400"/>
                  </a:cubicBezTo>
                  <a:cubicBezTo>
                    <a:pt x="1103556" y="181951"/>
                    <a:pt x="856516" y="0"/>
                    <a:pt x="551778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458" y="38100"/>
              <a:ext cx="896639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296218" y="2952465"/>
            <a:ext cx="1570867" cy="690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89"/>
              </a:lnSpc>
            </a:pPr>
            <a:r>
              <a:rPr lang="en-US" sz="413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125146" y="4439250"/>
            <a:ext cx="6193614" cy="930026"/>
            <a:chOff x="0" y="0"/>
            <a:chExt cx="1577742" cy="2369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77742" cy="236912"/>
            </a:xfrm>
            <a:custGeom>
              <a:avLst/>
              <a:gdLst/>
              <a:ahLst/>
              <a:cxnLst/>
              <a:rect l="l" t="t" r="r" b="b"/>
              <a:pathLst>
                <a:path w="1577742" h="236912">
                  <a:moveTo>
                    <a:pt x="38750" y="0"/>
                  </a:moveTo>
                  <a:lnTo>
                    <a:pt x="1538992" y="0"/>
                  </a:lnTo>
                  <a:cubicBezTo>
                    <a:pt x="1549269" y="0"/>
                    <a:pt x="1559125" y="4083"/>
                    <a:pt x="1566392" y="11349"/>
                  </a:cubicBezTo>
                  <a:cubicBezTo>
                    <a:pt x="1573659" y="18616"/>
                    <a:pt x="1577742" y="28472"/>
                    <a:pt x="1577742" y="38750"/>
                  </a:cubicBezTo>
                  <a:lnTo>
                    <a:pt x="1577742" y="198162"/>
                  </a:lnTo>
                  <a:cubicBezTo>
                    <a:pt x="1577742" y="219563"/>
                    <a:pt x="1560393" y="236912"/>
                    <a:pt x="1538992" y="236912"/>
                  </a:cubicBezTo>
                  <a:lnTo>
                    <a:pt x="38750" y="236912"/>
                  </a:lnTo>
                  <a:cubicBezTo>
                    <a:pt x="28472" y="236912"/>
                    <a:pt x="18616" y="232829"/>
                    <a:pt x="11349" y="225562"/>
                  </a:cubicBezTo>
                  <a:cubicBezTo>
                    <a:pt x="4083" y="218295"/>
                    <a:pt x="0" y="208439"/>
                    <a:pt x="0" y="198162"/>
                  </a:cubicBezTo>
                  <a:lnTo>
                    <a:pt x="0" y="38750"/>
                  </a:lnTo>
                  <a:cubicBezTo>
                    <a:pt x="0" y="28472"/>
                    <a:pt x="4083" y="18616"/>
                    <a:pt x="11349" y="11349"/>
                  </a:cubicBezTo>
                  <a:cubicBezTo>
                    <a:pt x="18616" y="4083"/>
                    <a:pt x="28472" y="0"/>
                    <a:pt x="3875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577742" cy="275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935750" y="4525736"/>
            <a:ext cx="5247902" cy="690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89"/>
              </a:lnSpc>
            </a:pPr>
            <a:r>
              <a:rPr lang="en-US" sz="413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227553" y="4275195"/>
            <a:ext cx="1708197" cy="1258135"/>
            <a:chOff x="0" y="0"/>
            <a:chExt cx="1103556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03556" cy="812800"/>
            </a:xfrm>
            <a:custGeom>
              <a:avLst/>
              <a:gdLst/>
              <a:ahLst/>
              <a:cxnLst/>
              <a:rect l="l" t="t" r="r" b="b"/>
              <a:pathLst>
                <a:path w="1103556" h="812800">
                  <a:moveTo>
                    <a:pt x="551778" y="0"/>
                  </a:moveTo>
                  <a:cubicBezTo>
                    <a:pt x="247039" y="0"/>
                    <a:pt x="0" y="181951"/>
                    <a:pt x="0" y="406400"/>
                  </a:cubicBezTo>
                  <a:cubicBezTo>
                    <a:pt x="0" y="630849"/>
                    <a:pt x="247039" y="812800"/>
                    <a:pt x="551778" y="812800"/>
                  </a:cubicBezTo>
                  <a:cubicBezTo>
                    <a:pt x="856516" y="812800"/>
                    <a:pt x="1103556" y="630849"/>
                    <a:pt x="1103556" y="406400"/>
                  </a:cubicBezTo>
                  <a:cubicBezTo>
                    <a:pt x="1103556" y="181951"/>
                    <a:pt x="856516" y="0"/>
                    <a:pt x="551778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458" y="38100"/>
              <a:ext cx="896639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296218" y="4525736"/>
            <a:ext cx="1570867" cy="690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89"/>
              </a:lnSpc>
            </a:pPr>
            <a:r>
              <a:rPr lang="en-US" sz="413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125146" y="6012521"/>
            <a:ext cx="6193614" cy="930026"/>
            <a:chOff x="0" y="0"/>
            <a:chExt cx="1577742" cy="2369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77742" cy="236912"/>
            </a:xfrm>
            <a:custGeom>
              <a:avLst/>
              <a:gdLst/>
              <a:ahLst/>
              <a:cxnLst/>
              <a:rect l="l" t="t" r="r" b="b"/>
              <a:pathLst>
                <a:path w="1577742" h="236912">
                  <a:moveTo>
                    <a:pt x="38750" y="0"/>
                  </a:moveTo>
                  <a:lnTo>
                    <a:pt x="1538992" y="0"/>
                  </a:lnTo>
                  <a:cubicBezTo>
                    <a:pt x="1549269" y="0"/>
                    <a:pt x="1559125" y="4083"/>
                    <a:pt x="1566392" y="11349"/>
                  </a:cubicBezTo>
                  <a:cubicBezTo>
                    <a:pt x="1573659" y="18616"/>
                    <a:pt x="1577742" y="28472"/>
                    <a:pt x="1577742" y="38750"/>
                  </a:cubicBezTo>
                  <a:lnTo>
                    <a:pt x="1577742" y="198162"/>
                  </a:lnTo>
                  <a:cubicBezTo>
                    <a:pt x="1577742" y="219563"/>
                    <a:pt x="1560393" y="236912"/>
                    <a:pt x="1538992" y="236912"/>
                  </a:cubicBezTo>
                  <a:lnTo>
                    <a:pt x="38750" y="236912"/>
                  </a:lnTo>
                  <a:cubicBezTo>
                    <a:pt x="28472" y="236912"/>
                    <a:pt x="18616" y="232829"/>
                    <a:pt x="11349" y="225562"/>
                  </a:cubicBezTo>
                  <a:cubicBezTo>
                    <a:pt x="4083" y="218295"/>
                    <a:pt x="0" y="208439"/>
                    <a:pt x="0" y="198162"/>
                  </a:cubicBezTo>
                  <a:lnTo>
                    <a:pt x="0" y="38750"/>
                  </a:lnTo>
                  <a:cubicBezTo>
                    <a:pt x="0" y="28472"/>
                    <a:pt x="4083" y="18616"/>
                    <a:pt x="11349" y="11349"/>
                  </a:cubicBezTo>
                  <a:cubicBezTo>
                    <a:pt x="18616" y="4083"/>
                    <a:pt x="28472" y="0"/>
                    <a:pt x="3875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577742" cy="275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935750" y="6099006"/>
            <a:ext cx="4595111" cy="69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89"/>
              </a:lnSpc>
            </a:pPr>
            <a:r>
              <a:rPr lang="en-US" sz="413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Objectives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27553" y="5848466"/>
            <a:ext cx="1708197" cy="1258135"/>
            <a:chOff x="0" y="0"/>
            <a:chExt cx="1103556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03556" cy="812800"/>
            </a:xfrm>
            <a:custGeom>
              <a:avLst/>
              <a:gdLst/>
              <a:ahLst/>
              <a:cxnLst/>
              <a:rect l="l" t="t" r="r" b="b"/>
              <a:pathLst>
                <a:path w="1103556" h="812800">
                  <a:moveTo>
                    <a:pt x="551778" y="0"/>
                  </a:moveTo>
                  <a:cubicBezTo>
                    <a:pt x="247039" y="0"/>
                    <a:pt x="0" y="181951"/>
                    <a:pt x="0" y="406400"/>
                  </a:cubicBezTo>
                  <a:cubicBezTo>
                    <a:pt x="0" y="630849"/>
                    <a:pt x="247039" y="812800"/>
                    <a:pt x="551778" y="812800"/>
                  </a:cubicBezTo>
                  <a:cubicBezTo>
                    <a:pt x="856516" y="812800"/>
                    <a:pt x="1103556" y="630849"/>
                    <a:pt x="1103556" y="406400"/>
                  </a:cubicBezTo>
                  <a:cubicBezTo>
                    <a:pt x="1103556" y="181951"/>
                    <a:pt x="856516" y="0"/>
                    <a:pt x="551778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458" y="38100"/>
              <a:ext cx="896639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296218" y="6099006"/>
            <a:ext cx="1570867" cy="690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89"/>
              </a:lnSpc>
            </a:pPr>
            <a:r>
              <a:rPr lang="en-US" sz="413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784241" y="7584981"/>
            <a:ext cx="7253370" cy="930026"/>
            <a:chOff x="0" y="0"/>
            <a:chExt cx="1847700" cy="23691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847700" cy="236912"/>
            </a:xfrm>
            <a:custGeom>
              <a:avLst/>
              <a:gdLst/>
              <a:ahLst/>
              <a:cxnLst/>
              <a:rect l="l" t="t" r="r" b="b"/>
              <a:pathLst>
                <a:path w="1847700" h="236912">
                  <a:moveTo>
                    <a:pt x="33088" y="0"/>
                  </a:moveTo>
                  <a:lnTo>
                    <a:pt x="1814612" y="0"/>
                  </a:lnTo>
                  <a:cubicBezTo>
                    <a:pt x="1832886" y="0"/>
                    <a:pt x="1847700" y="14814"/>
                    <a:pt x="1847700" y="33088"/>
                  </a:cubicBezTo>
                  <a:lnTo>
                    <a:pt x="1847700" y="203824"/>
                  </a:lnTo>
                  <a:cubicBezTo>
                    <a:pt x="1847700" y="222098"/>
                    <a:pt x="1832886" y="236912"/>
                    <a:pt x="1814612" y="236912"/>
                  </a:cubicBezTo>
                  <a:lnTo>
                    <a:pt x="33088" y="236912"/>
                  </a:lnTo>
                  <a:cubicBezTo>
                    <a:pt x="14814" y="236912"/>
                    <a:pt x="0" y="222098"/>
                    <a:pt x="0" y="203824"/>
                  </a:cubicBezTo>
                  <a:lnTo>
                    <a:pt x="0" y="33088"/>
                  </a:lnTo>
                  <a:cubicBezTo>
                    <a:pt x="0" y="14814"/>
                    <a:pt x="14814" y="0"/>
                    <a:pt x="33088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847700" cy="275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304046" y="7649526"/>
            <a:ext cx="6733565" cy="690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89"/>
              </a:lnSpc>
            </a:pPr>
            <a:r>
              <a:rPr lang="en-US" sz="413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Progress Achieved so far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4595848" y="7420926"/>
            <a:ext cx="1708197" cy="1258135"/>
            <a:chOff x="0" y="0"/>
            <a:chExt cx="2277596" cy="1677514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2277596" cy="1677514"/>
              <a:chOff x="0" y="0"/>
              <a:chExt cx="1103556" cy="8128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10355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103556" h="812800">
                    <a:moveTo>
                      <a:pt x="551778" y="0"/>
                    </a:moveTo>
                    <a:cubicBezTo>
                      <a:pt x="247039" y="0"/>
                      <a:pt x="0" y="181951"/>
                      <a:pt x="0" y="406400"/>
                    </a:cubicBezTo>
                    <a:cubicBezTo>
                      <a:pt x="0" y="630849"/>
                      <a:pt x="247039" y="812800"/>
                      <a:pt x="551778" y="812800"/>
                    </a:cubicBezTo>
                    <a:cubicBezTo>
                      <a:pt x="856516" y="812800"/>
                      <a:pt x="1103556" y="630849"/>
                      <a:pt x="1103556" y="406400"/>
                    </a:cubicBezTo>
                    <a:cubicBezTo>
                      <a:pt x="1103556" y="181951"/>
                      <a:pt x="856516" y="0"/>
                      <a:pt x="551778" y="0"/>
                    </a:cubicBezTo>
                    <a:close/>
                  </a:path>
                </a:pathLst>
              </a:custGeom>
              <a:solidFill>
                <a:srgbClr val="31404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3458" y="38100"/>
                <a:ext cx="896639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91553" y="356279"/>
              <a:ext cx="2094489" cy="898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89"/>
                </a:lnSpc>
              </a:pPr>
              <a:r>
                <a:rPr lang="en-US" sz="4135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6190" y="85204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394901" y="9330702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3" y="0"/>
                </a:lnTo>
                <a:lnTo>
                  <a:pt x="2489663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302420" y="584100"/>
            <a:ext cx="9709208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90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Literature Review</a:t>
            </a:r>
          </a:p>
        </p:txBody>
      </p:sp>
      <p:sp>
        <p:nvSpPr>
          <p:cNvPr id="5" name="Freeform 5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23" y="36502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10" name="AutoShape 10"/>
          <p:cNvSpPr/>
          <p:nvPr/>
        </p:nvSpPr>
        <p:spPr>
          <a:xfrm>
            <a:off x="2746109" y="9945224"/>
            <a:ext cx="1647620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236876" y="1838038"/>
            <a:ext cx="6007537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31404B"/>
                </a:solidFill>
                <a:latin typeface="Inter Bold"/>
                <a:ea typeface="Inter Bold"/>
                <a:cs typeface="Inter Bold"/>
                <a:sym typeface="Inter Bold"/>
              </a:rPr>
              <a:t>Paper 1: Drishti — MICRO 2025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210" y="2642235"/>
            <a:ext cx="18136790" cy="250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Proposes </a:t>
            </a:r>
            <a:r>
              <a:rPr lang="en-US" sz="2399" b="1">
                <a:solidFill>
                  <a:srgbClr val="31404B"/>
                </a:solidFill>
                <a:latin typeface="Inter Bold"/>
                <a:ea typeface="Inter Bold"/>
                <a:cs typeface="Inter Bold"/>
                <a:sym typeface="Inter Bold"/>
              </a:rPr>
              <a:t>per-core Global Prediction History Table (GPHT)</a:t>
            </a:r>
            <a:r>
              <a:rPr lang="en-US" sz="2399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 for reuse prediction</a:t>
            </a:r>
          </a:p>
          <a:p>
            <a:pPr marL="518157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Introduces </a:t>
            </a:r>
            <a:r>
              <a:rPr lang="en-US" sz="2399" b="1">
                <a:solidFill>
                  <a:srgbClr val="31404B"/>
                </a:solidFill>
                <a:latin typeface="Inter Bold"/>
                <a:ea typeface="Inter Bold"/>
                <a:cs typeface="Inter Bold"/>
                <a:sym typeface="Inter Bold"/>
              </a:rPr>
              <a:t>Dynamic Sampled Cache Selection</a:t>
            </a:r>
            <a:r>
              <a:rPr lang="en-US" sz="2399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 — tests multiple policies on sample sets and picks the best</a:t>
            </a:r>
          </a:p>
          <a:p>
            <a:pPr marL="518157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31404B"/>
                </a:solidFill>
                <a:latin typeface="Inter Bold"/>
                <a:ea typeface="Inter Bold"/>
                <a:cs typeface="Inter Bold"/>
                <a:sym typeface="Inter Bold"/>
              </a:rPr>
              <a:t>Key insight: </a:t>
            </a:r>
            <a:r>
              <a:rPr lang="en-US" sz="2399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Modern LLCs are sliced; replacement policies must account for per-core behavior</a:t>
            </a:r>
          </a:p>
          <a:p>
            <a:pPr marL="518157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31404B"/>
                </a:solidFill>
                <a:latin typeface="Inter Bold"/>
                <a:ea typeface="Inter Bold"/>
                <a:cs typeface="Inter Bold"/>
                <a:sym typeface="Inter Bold"/>
              </a:rPr>
              <a:t>Not a replacement policy itself</a:t>
            </a:r>
            <a:r>
              <a:rPr lang="en-US" sz="2399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 — works as a framework with underlying policies (Mockingjay, Hawkeye)</a:t>
            </a:r>
          </a:p>
          <a:p>
            <a:pPr marL="518157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 b="1">
                <a:solidFill>
                  <a:srgbClr val="31404B"/>
                </a:solidFill>
                <a:latin typeface="Inter Bold"/>
                <a:ea typeface="Inter Bold"/>
                <a:cs typeface="Inter Bold"/>
                <a:sym typeface="Inter Bold"/>
              </a:rPr>
              <a:t>Gap identified: </a:t>
            </a:r>
            <a:r>
              <a:rPr lang="en-US" sz="2399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Drishti does not explicitly distinguish prefetch vs. demand blocks; prefetch-awareness must come from the underlying replacement policy.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2420" y="5355257"/>
            <a:ext cx="12422980" cy="530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31404B"/>
                </a:solidFill>
                <a:latin typeface="Inter Bold"/>
                <a:ea typeface="Inter Bold"/>
                <a:cs typeface="Inter Bold"/>
                <a:sym typeface="Inter Bold"/>
              </a:rPr>
              <a:t>Paper 2: </a:t>
            </a:r>
            <a:r>
              <a:rPr lang="en-US" sz="3199" b="1" dirty="0" err="1">
                <a:solidFill>
                  <a:srgbClr val="31404B"/>
                </a:solidFill>
                <a:latin typeface="Inter Bold"/>
                <a:ea typeface="Inter Bold"/>
                <a:cs typeface="Inter Bold"/>
                <a:sym typeface="Inter Bold"/>
              </a:rPr>
              <a:t>PACMan</a:t>
            </a:r>
            <a:r>
              <a:rPr lang="en-US" sz="3199" b="1" dirty="0">
                <a:solidFill>
                  <a:srgbClr val="31404B"/>
                </a:solidFill>
                <a:latin typeface="Inter Bold"/>
                <a:ea typeface="Inter Bold"/>
                <a:cs typeface="Inter Bold"/>
                <a:sym typeface="Inter Bold"/>
              </a:rPr>
              <a:t> — IEEE Computer Architecture Letters, 2023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1210" y="6133436"/>
            <a:ext cx="17765466" cy="208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 dirty="0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Explicitly addresses </a:t>
            </a:r>
            <a:r>
              <a:rPr lang="en-US" sz="2399" b="1" dirty="0">
                <a:solidFill>
                  <a:srgbClr val="31404B"/>
                </a:solidFill>
                <a:latin typeface="Inter Bold"/>
                <a:ea typeface="Inter Bold"/>
                <a:cs typeface="Inter Bold"/>
                <a:sym typeface="Inter Bold"/>
              </a:rPr>
              <a:t>prefetch-demand interaction</a:t>
            </a:r>
            <a:r>
              <a:rPr lang="en-US" sz="2399" dirty="0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 at LLC level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 dirty="0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Proposes tracking prefetch accuracy to modulate insertion/promotion policies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 dirty="0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Demonstrates that prefetch-oblivious policies leave significant performance on the table</a:t>
            </a:r>
          </a:p>
          <a:p>
            <a:pPr marL="518157" lvl="1" indent="-259078" algn="just">
              <a:lnSpc>
                <a:spcPts val="3359"/>
              </a:lnSpc>
              <a:buFont typeface="Arial"/>
              <a:buChar char="•"/>
            </a:pPr>
            <a:r>
              <a:rPr lang="en-US" sz="2399" b="1" dirty="0">
                <a:solidFill>
                  <a:srgbClr val="31404B"/>
                </a:solidFill>
                <a:latin typeface="Inter Bold"/>
                <a:ea typeface="Inter Bold"/>
                <a:cs typeface="Inter Bold"/>
                <a:sym typeface="Inter Bold"/>
              </a:rPr>
              <a:t>Gap identified:</a:t>
            </a:r>
            <a:r>
              <a:rPr lang="en-US" sz="2399" dirty="0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99" dirty="0" err="1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PACMan's</a:t>
            </a:r>
            <a:r>
              <a:rPr lang="en-US" sz="2399" dirty="0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 accuracy tracking requires additional counters and sampling logic. There is no study of whether a simpler mechanism (e.g., insertion priority alone) can capture most of the benefit at zero overhead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9871" y="-332032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221530" y="2246163"/>
          <a:ext cx="14203272" cy="7306621"/>
        </p:xfrm>
        <a:graphic>
          <a:graphicData uri="http://schemas.openxmlformats.org/drawingml/2006/table">
            <a:tbl>
              <a:tblPr/>
              <a:tblGrid>
                <a:gridCol w="7101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1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2414">
                <a:tc>
                  <a:txBody>
                    <a:bodyPr/>
                    <a:lstStyle/>
                    <a:p>
                      <a:pPr algn="ctr">
                        <a:lnSpc>
                          <a:spcPts val="1899"/>
                        </a:lnSpc>
                        <a:defRPr/>
                      </a:pPr>
                      <a:r>
                        <a:rPr lang="en-US" sz="3799" b="1" spc="2352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Gap</a:t>
                      </a:r>
                      <a:endParaRPr lang="en-US" sz="1100"/>
                    </a:p>
                    <a:p>
                      <a:pPr algn="ctr">
                        <a:lnSpc>
                          <a:spcPts val="189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99"/>
                        </a:lnSpc>
                        <a:defRPr/>
                      </a:pPr>
                      <a:r>
                        <a:rPr lang="en-US" sz="3999" b="1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Source</a:t>
                      </a:r>
                      <a:endParaRPr lang="en-US" sz="1100"/>
                    </a:p>
                    <a:p>
                      <a:pPr algn="ctr">
                        <a:lnSpc>
                          <a:spcPts val="199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4256">
                <a:tc>
                  <a:txBody>
                    <a:bodyPr/>
                    <a:lstStyle/>
                    <a:p>
                      <a:pPr algn="ctr">
                        <a:lnSpc>
                          <a:spcPts val="4157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 lightweight, zero-overhead prefetch-resilient LLC replacement design exists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94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PACMan</a:t>
                      </a:r>
                      <a:endParaRPr lang="en-US" sz="1100"/>
                    </a:p>
                    <a:p>
                      <a:pPr algn="ctr">
                        <a:lnSpc>
                          <a:spcPts val="2394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6017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Drishti's framework does not handle prefetch type needs underlying policy support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Drishti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3934">
                <a:tc>
                  <a:txBody>
                    <a:bodyPr/>
                    <a:lstStyle/>
                    <a:p>
                      <a:pPr algn="ctr">
                        <a:lnSpc>
                          <a:spcPts val="3174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Prefetch–replacement interaction is understudied in shared multicore LLCs with heterogeneous workloads</a:t>
                      </a:r>
                      <a:endParaRPr lang="en-US" sz="1100"/>
                    </a:p>
                    <a:p>
                      <a:pPr algn="ctr">
                        <a:lnSpc>
                          <a:spcPts val="3174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Drishti, PACMan</a:t>
                      </a:r>
                      <a:endParaRPr lang="en-US" sz="1100"/>
                    </a:p>
                    <a:p>
                      <a:pPr algn="ctr">
                        <a:lnSpc>
                          <a:spcPts val="531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4338976" y="161925"/>
            <a:ext cx="9610049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Summary of Gaps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12" name="AutoShape 12"/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4154336" y="1182863"/>
            <a:ext cx="10515984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8865" y="3012315"/>
            <a:ext cx="17770269" cy="427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Aggressive hardware prefetching can </a:t>
            </a:r>
            <a:r>
              <a:rPr lang="en-US" sz="269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pollute the Last-Level Cache</a:t>
            </a:r>
            <a:r>
              <a:rPr lang="en-US" sz="269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by filling it with speculatively fetched blocks that are never accessed. In shared multicore LLCs, this pollution is amplified as multiple cores prefetch simultaneously, causing </a:t>
            </a:r>
            <a:r>
              <a:rPr lang="en-US" sz="269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eviction of useful demand</a:t>
            </a:r>
            <a:r>
              <a:rPr lang="en-US" sz="269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data and increasing miss rates.</a:t>
            </a: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Existing solutions either:</a:t>
            </a: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Ignore the problem</a:t>
            </a:r>
            <a:r>
              <a:rPr lang="en-US" sz="269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(standard LRU treats prefetch and demand equally)</a:t>
            </a: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Add significant hardware</a:t>
            </a:r>
            <a:r>
              <a:rPr lang="en-US" sz="269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(PACMan: accuracy counters and sampling logic; Drishti: GPHT tables + sampled cache selection)</a:t>
            </a:r>
          </a:p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There is a need for a </a:t>
            </a:r>
            <a:r>
              <a:rPr lang="en-US" sz="269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lightweight, zero-overhead mechanism</a:t>
            </a:r>
            <a:r>
              <a:rPr lang="en-US" sz="269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that can reduce prefetch pollution in shared LLCs without requiring additional hardware structures, training periods, or workload-specific tuning.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35123" y="-345538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276310" y="-318128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2382733" y="-112388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6438193" y="-22742"/>
            <a:ext cx="5411615" cy="170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19"/>
              </a:lnSpc>
            </a:pPr>
            <a:r>
              <a:rPr lang="en-US" sz="9799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Objective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8291" y="2120342"/>
            <a:ext cx="16330551" cy="753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</a:t>
            </a:r>
            <a:r>
              <a:rPr lang="en-US" sz="27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Design a Zero-Overhead Prefetch-Aware LLC Replacement Policy</a:t>
            </a:r>
          </a:p>
          <a:p>
            <a:pPr algn="l">
              <a:lnSpc>
                <a:spcPts val="3051"/>
              </a:lnSpc>
              <a:spcBef>
                <a:spcPct val="0"/>
              </a:spcBef>
            </a:pPr>
            <a:endParaRPr lang="en-US" sz="2779" b="1">
              <a:solidFill>
                <a:srgbClr val="31404B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051"/>
              </a:lnSpc>
              <a:spcBef>
                <a:spcPct val="0"/>
              </a:spcBef>
            </a:pP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- Modify LRU insertion to differentiate </a:t>
            </a:r>
            <a:r>
              <a:rPr lang="en-US" sz="21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prefetch blocks</a:t>
            </a: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(low priority) from </a:t>
            </a:r>
            <a:r>
              <a:rPr lang="en-US" sz="21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demand blocks</a:t>
            </a: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(normal MRU priority)</a:t>
            </a:r>
          </a:p>
          <a:p>
            <a:pPr algn="l">
              <a:lnSpc>
                <a:spcPts val="3051"/>
              </a:lnSpc>
              <a:spcBef>
                <a:spcPct val="0"/>
              </a:spcBef>
            </a:pP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- Promote prefetched blocks to MRU </a:t>
            </a:r>
            <a:r>
              <a:rPr lang="en-US" sz="21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only on hit</a:t>
            </a: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(proving they are useful)</a:t>
            </a:r>
          </a:p>
          <a:p>
            <a:pPr algn="l">
              <a:lnSpc>
                <a:spcPts val="3051"/>
              </a:lnSpc>
              <a:spcBef>
                <a:spcPct val="0"/>
              </a:spcBef>
            </a:pP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- Achieve this using </a:t>
            </a:r>
            <a:r>
              <a:rPr lang="en-US" sz="21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only the existing `access_type` flag</a:t>
            </a: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— no new hardware tables or counters</a:t>
            </a:r>
          </a:p>
          <a:p>
            <a:pPr algn="l">
              <a:lnSpc>
                <a:spcPts val="3051"/>
              </a:lnSpc>
              <a:spcBef>
                <a:spcPct val="0"/>
              </a:spcBef>
            </a:pPr>
            <a:endParaRPr lang="en-US" sz="2179">
              <a:solidFill>
                <a:srgbClr val="3140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Evaluate Across Diverse Workload Types and Multicore Configurations</a:t>
            </a:r>
          </a:p>
          <a:p>
            <a:pPr algn="l">
              <a:lnSpc>
                <a:spcPts val="3051"/>
              </a:lnSpc>
              <a:spcBef>
                <a:spcPct val="0"/>
              </a:spcBef>
            </a:pPr>
            <a:endParaRPr lang="en-US" sz="2779" b="1">
              <a:solidFill>
                <a:srgbClr val="31404B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051"/>
              </a:lnSpc>
              <a:spcBef>
                <a:spcPct val="0"/>
              </a:spcBef>
            </a:pP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- Test on </a:t>
            </a:r>
            <a:r>
              <a:rPr lang="en-US" sz="21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compute-bound</a:t>
            </a: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(perlbench), </a:t>
            </a:r>
            <a:r>
              <a:rPr lang="en-US" sz="21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mixed</a:t>
            </a: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(gcc), and </a:t>
            </a:r>
            <a:r>
              <a:rPr lang="en-US" sz="21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memory-bound</a:t>
            </a: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(mcf) SPEC CPU traces</a:t>
            </a:r>
          </a:p>
          <a:p>
            <a:pPr algn="l">
              <a:lnSpc>
                <a:spcPts val="3051"/>
              </a:lnSpc>
              <a:spcBef>
                <a:spcPct val="0"/>
              </a:spcBef>
            </a:pP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- Evaluate in both </a:t>
            </a:r>
            <a:r>
              <a:rPr lang="en-US" sz="21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single-core</a:t>
            </a: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US" sz="21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4-core shared LLC</a:t>
            </a: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configurations</a:t>
            </a:r>
          </a:p>
          <a:p>
            <a:pPr algn="l">
              <a:lnSpc>
                <a:spcPts val="3051"/>
              </a:lnSpc>
              <a:spcBef>
                <a:spcPct val="0"/>
              </a:spcBef>
            </a:pP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- Measure </a:t>
            </a:r>
            <a:r>
              <a:rPr lang="en-US" sz="21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IPC improvement</a:t>
            </a: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LLC MPKI</a:t>
            </a: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, and a new metric: </a:t>
            </a:r>
            <a:r>
              <a:rPr lang="en-US" sz="21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prefetch usefulness</a:t>
            </a: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(promoted prefetches / total prefetch fills)</a:t>
            </a:r>
          </a:p>
          <a:p>
            <a:pPr algn="l">
              <a:lnSpc>
                <a:spcPts val="3051"/>
              </a:lnSpc>
              <a:spcBef>
                <a:spcPct val="0"/>
              </a:spcBef>
            </a:pPr>
            <a:endParaRPr lang="en-US" sz="2179">
              <a:solidFill>
                <a:srgbClr val="31404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3: Characterize When Prefetch-Aware Insertion Is Effective vs. When It Is Not</a:t>
            </a:r>
          </a:p>
          <a:p>
            <a:pPr algn="l">
              <a:lnSpc>
                <a:spcPts val="3051"/>
              </a:lnSpc>
              <a:spcBef>
                <a:spcPct val="0"/>
              </a:spcBef>
            </a:pPr>
            <a:endParaRPr lang="en-US" sz="2779" b="1">
              <a:solidFill>
                <a:srgbClr val="31404B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051"/>
              </a:lnSpc>
              <a:spcBef>
                <a:spcPct val="0"/>
              </a:spcBef>
            </a:pP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- Quantify prefetch usefulness across workload types to understand when the policy helps</a:t>
            </a:r>
          </a:p>
          <a:p>
            <a:pPr algn="l">
              <a:lnSpc>
                <a:spcPts val="3051"/>
              </a:lnSpc>
              <a:spcBef>
                <a:spcPct val="0"/>
              </a:spcBef>
            </a:pP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- Demonstrate </a:t>
            </a:r>
            <a:r>
              <a:rPr lang="en-US" sz="2179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self-adaptive behavior</a:t>
            </a: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— the policy automatically adjusts based on whether prefetches receive cache hits</a:t>
            </a:r>
          </a:p>
          <a:p>
            <a:pPr algn="l">
              <a:lnSpc>
                <a:spcPts val="3051"/>
              </a:lnSpc>
              <a:spcBef>
                <a:spcPct val="0"/>
              </a:spcBef>
            </a:pPr>
            <a:r>
              <a:rPr lang="en-US" sz="2179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- Provide guidance on when lightweight prefetch-awareness suffices vs. when more complex policies (Drishti, PACMan) are needed</a:t>
            </a:r>
          </a:p>
          <a:p>
            <a:pPr algn="l">
              <a:lnSpc>
                <a:spcPts val="3051"/>
              </a:lnSpc>
              <a:spcBef>
                <a:spcPct val="0"/>
              </a:spcBef>
            </a:pPr>
            <a:endParaRPr lang="en-US" sz="2179">
              <a:solidFill>
                <a:srgbClr val="31404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88409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777119" y="9039901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3" y="0"/>
                </a:lnTo>
                <a:lnTo>
                  <a:pt x="2489663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82116" y="373554"/>
            <a:ext cx="14166627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31404B"/>
                </a:solidFill>
                <a:latin typeface="Inter Bold"/>
                <a:ea typeface="Inter Bold"/>
                <a:cs typeface="Inter Bold"/>
                <a:sym typeface="Inter Bold"/>
              </a:rPr>
              <a:t>Progress Achieved so far</a:t>
            </a:r>
          </a:p>
        </p:txBody>
      </p:sp>
      <p:sp>
        <p:nvSpPr>
          <p:cNvPr id="5" name="Freeform 5"/>
          <p:cNvSpPr/>
          <p:nvPr/>
        </p:nvSpPr>
        <p:spPr>
          <a:xfrm>
            <a:off x="16083541" y="-2039434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7101404" y="-1017863"/>
            <a:ext cx="2035726" cy="203572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23" y="36502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10" name="AutoShape 10"/>
          <p:cNvSpPr/>
          <p:nvPr/>
        </p:nvSpPr>
        <p:spPr>
          <a:xfrm flipV="1">
            <a:off x="3948582" y="984541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467712" y="1991809"/>
            <a:ext cx="15837489" cy="177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31404B"/>
                </a:solidFill>
                <a:latin typeface="Inter Bold"/>
                <a:ea typeface="Inter Bold"/>
                <a:cs typeface="Inter Bold"/>
                <a:sym typeface="Inter Bold"/>
              </a:rPr>
              <a:t>SETUP &amp; IMPLEMENTATION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- ChampSim environment configured (WSL2) with baseline and prefetch-aware binaries (1-core &amp; 4-core)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- Custom replacement module: lru_prefetch_aware (lru_prefetch_aware.h, lru_prefetch_aware.cc)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- Three key functions: find_victim(), replacement_cache_fill(), update_replacement_state()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7712" y="5232978"/>
            <a:ext cx="17356370" cy="227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  <a:spcBef>
                <a:spcPct val="0"/>
              </a:spcBef>
            </a:pPr>
            <a:r>
              <a:rPr lang="en-US" sz="3214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Trace          Type                     Baseline IPC          Prefetch-Aware IPC       Prefetch Usefulness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  <a:r>
              <a:rPr lang="en-US" sz="3214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perlbench  Compute-bound     2.158                     2.159 (+0.05%)                           0%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  <a:r>
              <a:rPr lang="en-US" sz="3214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gcc             Mixed                      1.967                      1.976 (+0.46%)                       35.0%</a:t>
            </a:r>
          </a:p>
          <a:p>
            <a:pPr algn="l">
              <a:lnSpc>
                <a:spcPts val="4500"/>
              </a:lnSpc>
              <a:spcBef>
                <a:spcPct val="0"/>
              </a:spcBef>
            </a:pPr>
            <a:r>
              <a:rPr lang="en-US" sz="3214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mcf             Memory-bound      0.0743                  0.0743 (+0.07%)                       0.2%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68177" y="4356010"/>
            <a:ext cx="5551646" cy="578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31404B"/>
                </a:solidFill>
                <a:latin typeface="Inter"/>
                <a:ea typeface="Inter"/>
                <a:cs typeface="Inter"/>
                <a:sym typeface="Inter"/>
              </a:rPr>
              <a:t>SINGLE-CORE RESULTS: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9871" y="-332032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938587" y="79816"/>
            <a:ext cx="5510425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Result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93999" y="1565716"/>
            <a:ext cx="14559761" cy="3525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2"/>
              </a:lnSpc>
              <a:spcBef>
                <a:spcPct val="0"/>
              </a:spcBef>
            </a:pPr>
            <a:r>
              <a:rPr lang="en-US" sz="3337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1-CORE MCF LONG RUN (10M instructions):</a:t>
            </a:r>
          </a:p>
          <a:p>
            <a:pPr algn="l">
              <a:lnSpc>
                <a:spcPts val="4672"/>
              </a:lnSpc>
              <a:spcBef>
                <a:spcPct val="0"/>
              </a:spcBef>
            </a:pPr>
            <a:endParaRPr lang="en-US" sz="3337" b="1">
              <a:solidFill>
                <a:srgbClr val="31404B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672"/>
              </a:lnSpc>
              <a:spcBef>
                <a:spcPct val="0"/>
              </a:spcBef>
            </a:pPr>
            <a:r>
              <a:rPr lang="en-US" sz="3337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Metric                                    Baseline LRU                         Prefetch-Aware LRU</a:t>
            </a:r>
          </a:p>
          <a:p>
            <a:pPr algn="l">
              <a:lnSpc>
                <a:spcPts val="4672"/>
              </a:lnSpc>
              <a:spcBef>
                <a:spcPct val="0"/>
              </a:spcBef>
            </a:pPr>
            <a:r>
              <a:rPr lang="en-US" sz="3337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IPC                                              0.0813                                         0.08127</a:t>
            </a:r>
          </a:p>
          <a:p>
            <a:pPr algn="l">
              <a:lnSpc>
                <a:spcPts val="4672"/>
              </a:lnSpc>
              <a:spcBef>
                <a:spcPct val="0"/>
              </a:spcBef>
            </a:pPr>
            <a:r>
              <a:rPr lang="en-US" sz="3337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LLC Misses                                834,521                                        834,918</a:t>
            </a:r>
          </a:p>
          <a:p>
            <a:pPr algn="l">
              <a:lnSpc>
                <a:spcPts val="4672"/>
              </a:lnSpc>
              <a:spcBef>
                <a:spcPct val="0"/>
              </a:spcBef>
            </a:pPr>
            <a:r>
              <a:rPr lang="en-US" sz="3337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Prefetch Usefulness                   N/A                              0.19% (1 of 538 useful)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9160" y="5580552"/>
            <a:ext cx="15306277" cy="411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4"/>
              </a:lnSpc>
              <a:spcBef>
                <a:spcPct val="0"/>
              </a:spcBef>
            </a:pPr>
            <a:r>
              <a:rPr lang="en-US" sz="3331" b="1">
                <a:solidFill>
                  <a:srgbClr val="31404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4-CORE HETEROGENEOUS (gcc + mcf + perlbench + gcc), Shared 8MB LLC:</a:t>
            </a:r>
          </a:p>
          <a:p>
            <a:pPr algn="l">
              <a:lnSpc>
                <a:spcPts val="4664"/>
              </a:lnSpc>
              <a:spcBef>
                <a:spcPct val="0"/>
              </a:spcBef>
            </a:pPr>
            <a:endParaRPr lang="en-US" sz="3331" b="1">
              <a:solidFill>
                <a:srgbClr val="31404B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664"/>
              </a:lnSpc>
              <a:spcBef>
                <a:spcPct val="0"/>
              </a:spcBef>
            </a:pPr>
            <a:r>
              <a:rPr lang="en-US" sz="3331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Core              Trace               Baseline IPC         Prefetch-Aware IPC</a:t>
            </a:r>
          </a:p>
          <a:p>
            <a:pPr algn="l">
              <a:lnSpc>
                <a:spcPts val="4664"/>
              </a:lnSpc>
              <a:spcBef>
                <a:spcPct val="0"/>
              </a:spcBef>
            </a:pPr>
            <a:r>
              <a:rPr lang="en-US" sz="3331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CPU 0             gcc                     1.970                          1.971</a:t>
            </a:r>
          </a:p>
          <a:p>
            <a:pPr algn="l">
              <a:lnSpc>
                <a:spcPts val="4664"/>
              </a:lnSpc>
              <a:spcBef>
                <a:spcPct val="0"/>
              </a:spcBef>
            </a:pPr>
            <a:r>
              <a:rPr lang="en-US" sz="3331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CPU 1             mcf                   0.0847                        0.0856</a:t>
            </a:r>
          </a:p>
          <a:p>
            <a:pPr algn="l">
              <a:lnSpc>
                <a:spcPts val="4664"/>
              </a:lnSpc>
              <a:spcBef>
                <a:spcPct val="0"/>
              </a:spcBef>
            </a:pPr>
            <a:r>
              <a:rPr lang="en-US" sz="3331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CPU 2        perlbench             2.027                           2.17</a:t>
            </a:r>
          </a:p>
          <a:p>
            <a:pPr algn="l">
              <a:lnSpc>
                <a:spcPts val="4664"/>
              </a:lnSpc>
              <a:spcBef>
                <a:spcPct val="0"/>
              </a:spcBef>
            </a:pPr>
            <a:r>
              <a:rPr lang="en-US" sz="3331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CPU 3              gcc                    1.985                         1.996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12" name="AutoShape 12"/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2629629" y="1627701"/>
            <a:ext cx="15287048" cy="6615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sz="315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4-Core LLC Statistics:</a:t>
            </a:r>
          </a:p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sz="31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Prefetch fills: 6,475</a:t>
            </a:r>
          </a:p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sz="31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Promoted (useful): 2,088</a:t>
            </a:r>
          </a:p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sz="31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Usefulness: 32.2%</a:t>
            </a:r>
          </a:p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sz="31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mcf load misses reduced by 226 (318,629 → 318,403)</a:t>
            </a:r>
          </a:p>
          <a:p>
            <a:pPr algn="l">
              <a:lnSpc>
                <a:spcPts val="4423"/>
              </a:lnSpc>
              <a:spcBef>
                <a:spcPct val="0"/>
              </a:spcBef>
            </a:pPr>
            <a:endParaRPr lang="en-US" sz="315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sz="315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FINDING: SELF-ADAPTIVE WITHOUT ANY PREDICTOR</a:t>
            </a:r>
          </a:p>
          <a:p>
            <a:pPr algn="l">
              <a:lnSpc>
                <a:spcPts val="4423"/>
              </a:lnSpc>
              <a:spcBef>
                <a:spcPct val="0"/>
              </a:spcBef>
            </a:pPr>
            <a:endParaRPr lang="en-US" sz="315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sz="31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gcc (stride-friendly)                                                   mcf (pointer-chasing)</a:t>
            </a:r>
          </a:p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sz="31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Prefetch arrives → Insert LOW                       Prefetch arrives → Insert LOW</a:t>
            </a:r>
          </a:p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sz="31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Gets HIT (35%) → Promote to MRU              No hits (0.2%) → Stays near LRU</a:t>
            </a:r>
          </a:p>
          <a:p>
            <a:pPr algn="l">
              <a:lnSpc>
                <a:spcPts val="4423"/>
              </a:lnSpc>
              <a:spcBef>
                <a:spcPct val="0"/>
              </a:spcBef>
            </a:pPr>
            <a:r>
              <a:rPr lang="en-US" sz="31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Result: IPC +0.46%                                            Result: Demand data protected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9871" y="-3320321"/>
            <a:ext cx="19729171" cy="16927642"/>
            <a:chOff x="0" y="0"/>
            <a:chExt cx="1014692" cy="8706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692" cy="870606"/>
            </a:xfrm>
            <a:custGeom>
              <a:avLst/>
              <a:gdLst/>
              <a:ahLst/>
              <a:cxnLst/>
              <a:rect l="l" t="t" r="r" b="b"/>
              <a:pathLst>
                <a:path w="1014692" h="870606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28700" y="-28661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2135123" y="-808742"/>
            <a:ext cx="3504283" cy="3510666"/>
          </a:xfrm>
          <a:custGeom>
            <a:avLst/>
            <a:gdLst/>
            <a:ahLst/>
            <a:cxnLst/>
            <a:rect l="l" t="t" r="r" b="b"/>
            <a:pathLst>
              <a:path w="3504283" h="3510666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-608437" y="2701924"/>
            <a:ext cx="1216873" cy="121687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250272" y="847725"/>
            <a:ext cx="8867938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Remaining work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43186" y="3082929"/>
            <a:ext cx="13785295" cy="5566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76"/>
              </a:lnSpc>
              <a:spcBef>
                <a:spcPct val="0"/>
              </a:spcBef>
            </a:pPr>
            <a:r>
              <a:rPr lang="en-US" sz="3983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1. Compare with DRRIP, SHiP, SRRIP</a:t>
            </a:r>
          </a:p>
          <a:p>
            <a:pPr algn="l">
              <a:lnSpc>
                <a:spcPts val="5576"/>
              </a:lnSpc>
              <a:spcBef>
                <a:spcPct val="0"/>
              </a:spcBef>
            </a:pPr>
            <a:r>
              <a:rPr lang="en-US" sz="3983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2. More aggressive prefetchers (SPP/AMPM at LLC level)</a:t>
            </a:r>
          </a:p>
          <a:p>
            <a:pPr algn="l">
              <a:lnSpc>
                <a:spcPts val="5576"/>
              </a:lnSpc>
              <a:spcBef>
                <a:spcPct val="0"/>
              </a:spcBef>
            </a:pPr>
            <a:r>
              <a:rPr lang="en-US" sz="3983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3. Larger instruction windows (50M+ runs)</a:t>
            </a:r>
          </a:p>
          <a:p>
            <a:pPr algn="l">
              <a:lnSpc>
                <a:spcPts val="5576"/>
              </a:lnSpc>
              <a:spcBef>
                <a:spcPct val="0"/>
              </a:spcBef>
            </a:pPr>
            <a:r>
              <a:rPr lang="en-US" sz="3983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4. Adaptive insertion position (lightweight dynamic counter)</a:t>
            </a:r>
          </a:p>
          <a:p>
            <a:pPr algn="l">
              <a:lnSpc>
                <a:spcPts val="5576"/>
              </a:lnSpc>
              <a:spcBef>
                <a:spcPct val="0"/>
              </a:spcBef>
            </a:pPr>
            <a:r>
              <a:rPr lang="en-US" sz="3983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5. Drishti integration (per-core reuse prediction + prefetch-awareness)</a:t>
            </a:r>
          </a:p>
          <a:p>
            <a:pPr algn="l">
              <a:lnSpc>
                <a:spcPts val="5576"/>
              </a:lnSpc>
              <a:spcBef>
                <a:spcPct val="0"/>
              </a:spcBef>
            </a:pPr>
            <a:r>
              <a:rPr lang="en-US" sz="3983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6. Final report and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76211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517410" y="8431464"/>
            <a:ext cx="2489663" cy="2494198"/>
          </a:xfrm>
          <a:custGeom>
            <a:avLst/>
            <a:gdLst/>
            <a:ahLst/>
            <a:cxnLst/>
            <a:rect l="l" t="t" r="r" b="b"/>
            <a:pathLst>
              <a:path w="2489663" h="2494198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2213955" y="9678563"/>
            <a:ext cx="1216873" cy="12168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645401" y="3270888"/>
            <a:ext cx="8997199" cy="241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0"/>
              </a:lnSpc>
            </a:pPr>
            <a:r>
              <a:rPr lang="en-US" sz="14000" b="1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>
            <a:off x="15880951" y="-1693459"/>
            <a:ext cx="4071451" cy="4078867"/>
          </a:xfrm>
          <a:custGeom>
            <a:avLst/>
            <a:gdLst/>
            <a:ahLst/>
            <a:cxnLst/>
            <a:rect l="l" t="t" r="r" b="b"/>
            <a:pathLst>
              <a:path w="4071451" h="4078867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16898813" y="-671888"/>
            <a:ext cx="2035726" cy="203572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-160020" y="1028700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 flipV="1">
            <a:off x="3430852" y="9248775"/>
            <a:ext cx="1555333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893</Words>
  <Application>Microsoft Office PowerPoint</Application>
  <PresentationFormat>Custom</PresentationFormat>
  <Paragraphs>102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Open Sans Bold</vt:lpstr>
      <vt:lpstr>Inter Bold</vt:lpstr>
      <vt:lpstr>Open Sans</vt:lpstr>
      <vt:lpstr>Calibri</vt:lpstr>
      <vt:lpstr>Arial</vt:lpstr>
      <vt:lpstr>Roboto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Navy and White Minimalist Simple Research Project Presentation</dc:title>
  <cp:lastModifiedBy>chiragsharma.ijs@gmail.com</cp:lastModifiedBy>
  <cp:revision>3</cp:revision>
  <dcterms:created xsi:type="dcterms:W3CDTF">2006-08-16T00:00:00Z</dcterms:created>
  <dcterms:modified xsi:type="dcterms:W3CDTF">2026-03-13T08:35:17Z</dcterms:modified>
  <dc:identifier>DAHBN8gKhY8</dc:identifier>
</cp:coreProperties>
</file>