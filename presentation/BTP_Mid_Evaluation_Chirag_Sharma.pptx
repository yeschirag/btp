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097280"/>
            <a:ext cx="10728655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38BDF8"/>
                </a:solidFill>
                <a:latin typeface="Arial"/>
              </a:defRPr>
            </a:pPr>
            <a:r>
              <a:t>BACHELOR THESIS PROJECT (BTP) — MID-EVALUATION REVIEW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1645920"/>
            <a:ext cx="10728655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  <a:latin typeface="Arial"/>
              </a:defRPr>
            </a:pPr>
            <a:r>
              <a:t>Zero-Overhead Prefetch-Resilient LLC</a:t>
            </a:r>
            <a:br/>
            <a:r>
              <a:t>Replacement Policy for Multicore Systems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3291840"/>
            <a:ext cx="10728655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>
                <a:solidFill>
                  <a:srgbClr val="94A3B8"/>
                </a:solidFill>
                <a:latin typeface="Arial"/>
              </a:defRPr>
            </a:pPr>
            <a:r>
              <a:t>Eliminating Multicore Cache Thrashing &amp; Speculative Pollution with Zero Extra Hardware Storage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103120" y="4297680"/>
            <a:ext cx="3657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86000" y="4389120"/>
            <a:ext cx="3291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PRESENTER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Chirag Sharma</a:t>
            </a:r>
          </a:p>
          <a:p>
            <a:pPr>
              <a:defRPr sz="1100">
                <a:solidFill>
                  <a:srgbClr val="38BDF8"/>
                </a:solidFill>
              </a:defRPr>
            </a:pPr>
            <a:r>
              <a:t>Roll No: S20240010223 | B.Tech CSE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0" y="4297680"/>
            <a:ext cx="365760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83680" y="4389120"/>
            <a:ext cx="3291840" cy="12801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 b="1">
                <a:solidFill>
                  <a:srgbClr val="94A3B8"/>
                </a:solidFill>
              </a:defRPr>
            </a:pPr>
            <a:r>
              <a:t>PROJECT ADVISOR</a:t>
            </a:r>
          </a:p>
          <a:p>
            <a:pPr>
              <a:defRPr sz="1600" b="1">
                <a:solidFill>
                  <a:srgbClr val="FFFFFF"/>
                </a:solidFill>
              </a:defRPr>
            </a:pPr>
            <a:r>
              <a:t>Dr. Bheemappa Halavar</a:t>
            </a:r>
          </a:p>
          <a:p>
            <a:pPr>
              <a:defRPr sz="1100">
                <a:solidFill>
                  <a:srgbClr val="10B981"/>
                </a:solidFill>
              </a:defRPr>
            </a:pPr>
            <a:r>
              <a:t>Dept. of Computer Science &amp; Engineering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</a:defRPr>
            </a:pPr>
            <a:r>
              <a:t>Indian Institute of Information Technology, Sri City (IIIT Sri City)  •  Slide 1 of 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1. Motivation: The Prefetching Dilemma in Shared LLCs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65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[BACKGROUND]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Chirag Sharma (S20240010223)  |  Guide: Dr. Bheemappa Halavar  |  IIIT Sri City  |  Slide 2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The Hardware Prefetching Dilemma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Latency Hiding: Hardware prefetchers (AMPM, IP-Stride, SPP) hide DRAM latency for regular stride &amp; streaming memory accesses (403.gcc, 470.lbm).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Accuracy Collapse: For irregular, graph, and pointer-chasing patterns (429.mcf), prefetch accuracy collapses to under 0.5%.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Speculative Flood: Useless prefetch blocks flood the Last-Level Cache (LLC), generating heavy memory traffic without ever receiving a single hit.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Cache Pollution: Speculative data evicts active demand lines, causing thrashing in shared multi-core setups.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F59E0B"/>
                </a:solidFill>
                <a:latin typeface="Arial"/>
              </a:defRPr>
            </a:pPr>
            <a:r>
              <a:t>Multicore Thrashing &amp; Policy Blindness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Prefetch-Oblivious Policies: Standard LRU and SRRIP treat speculative prefetches with the exact same high priority as demand fills.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Cross-Core Thrashing: In a shared 4-core LLC, inaccurate prefetches from one core (e.g., mcf) prematurely evict active lines of co-running cores.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Severe IPC Collapse: Under cross-core pointer contention, neighbor cores suffer up to 50%+ IPC degradation.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Core Thesis: We need a mechanism that renders the LLC resilient against speculative prefetch pollution without adding hardware tables.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2. Literature Review &amp; Identified Research Gaps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65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[PRIOR ART]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Chirag Sharma (S20240010223)  |  Guide: Dr. Bheemappa Halavar  |  IIIT Sri City  |  Slide 3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A855F7"/>
                </a:solidFill>
                <a:latin typeface="Arial"/>
              </a:defRPr>
            </a:pPr>
            <a:r>
              <a:t>State-of-the-Art Approaches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Drishti (MICRO 2025): Addresses LLC slicing using per-core GPHT tables &amp; sampled cache selection. Note: Clarified with authors that Drishti is an architectural framework, not a standalone replacement policy; replacement policies must handle prefetch vs. demand.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PACMan (IEEE CAL 2023): Prefetch-aware cache management via accuracy tracking counters and sampling logic.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DRRIP (ISCA 2010): Dynamic RRIP with set-dueling PSEL counters (16 Bytes overhead, 32 leader sets).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SHiP (ISCA 2011): Signature-based hit predictor requiring an 8,192-entry SHCT table (2,048 Bytes / 2 KB of dedicated SRAM!).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Critical Research Gaps Identified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Heavy Hardware Overhead: Prior art requires non-trivial storage budgets (up to 2 KB SRAM for SHiP) and complex hashing/training logic.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Area &amp; Latency Penalties: Dedicated predictor tables consume precious chip area, dynamic energy, and access latency in the critical cache pipeline.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Research Question: Can a lightweight, zero-overhead replacement policy achieve comparable or superior prefetch resilience with ZERO extra storage bits?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Design Goal: Provide robust protection for multicore workloads purely by modulating insertion priority and promotion on hit.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3. Proposed Policy Architecture: Demoted Insertion &amp; Hit Promotion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65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[CORE MECHANISM]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Chirag Sharma (S20240010223)  |  Guide: Dr. Bheemappa Halavar  |  IIIT Sri City  |  Slide 4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66928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539496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Three Architectural Principles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1. Demoted Initial Insertion:</a:t>
            </a:r>
            <a:br/>
            <a:r>
              <a:t>   • Demand fills insert at standard MRU priority (RRPV = 2).</a:t>
            </a:r>
            <a:br/>
            <a:r>
              <a:t>   • Speculative prefetch fills insert at distant priority (near-LRU / RRPV = 3).</a:t>
            </a:r>
            <a:br/>
            <a:r>
              <a:t>   • Useless prefetches sit in the victim position and exit immediately on the next fill without evicting active demand data.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2. Self-Adaptive Hit Promotion:</a:t>
            </a:r>
            <a:br/>
            <a:r>
              <a:t>   • When a prefetched block receives a cache hit, it is promoted to MRU (RRPV = 0).</a:t>
            </a:r>
            <a:br/>
            <a:r>
              <a:t>   • Line is reclassified as verified demand data, shielding it from eviction.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3. PA-Adaptive Extension (0.75 Bytes):</a:t>
            </a:r>
            <a:br/>
            <a:r>
              <a:t>   • 6-bit saturating counter (+3 on prefetch hit, -1 on eviction).</a:t>
            </a:r>
            <a:br/>
            <a:r>
              <a:t>   • Toggles prefetch insertion between RRPV=2 (streaming) and RRPV=3 (noise filtering).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Zero Storage Cost: Uses existing access_type::PREFETCH pipeline hint.</a:t>
            </a:r>
          </a:p>
        </p:txBody>
      </p:sp>
      <p:pic>
        <p:nvPicPr>
          <p:cNvPr id="9" name="Picture 8" descr="chart_prefetch_usefuln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371600"/>
            <a:ext cx="4754880" cy="3263153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675120" y="5029200"/>
            <a:ext cx="475488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>
                <a:solidFill>
                  <a:srgbClr val="94A3B8"/>
                </a:solidFill>
                <a:latin typeface="Arial"/>
              </a:defRPr>
            </a:pPr>
            <a:r>
              <a:t>Self-Adaptive Filtering: Useful prefetches hit and promote (&gt;50% in gcc), while pointer noise (&lt;0.5% in mcf) is safely pruned without polluting the LLC.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4. ChampSim 4-Core Heterogeneous Workload Results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65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[EVALUATION]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Chirag Sharma (S20240010223)  |  Guide: Dr. Bheemappa Halavar  |  IIIT Sri City  |  Slide 5 of 7</a:t>
            </a:r>
          </a:p>
        </p:txBody>
      </p:sp>
      <p:pic>
        <p:nvPicPr>
          <p:cNvPr id="7" name="Picture 6" descr="chart_4core_all_cpus_ip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937760" cy="3200400"/>
          </a:xfrm>
          <a:prstGeom prst="rect">
            <a:avLst/>
          </a:prstGeom>
        </p:spPr>
      </p:pic>
      <p:sp>
        <p:nvSpPr>
          <p:cNvPr id="8" name="Rounded Rectangle 7"/>
          <p:cNvSpPr/>
          <p:nvPr/>
        </p:nvSpPr>
        <p:spPr>
          <a:xfrm>
            <a:off x="6035040" y="1280160"/>
            <a:ext cx="539496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172200" y="1417320"/>
            <a:ext cx="512064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Key Performance Breakthroughs (20M Sim)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Workload Mix: 403.gcc (Stride) + 429.mcf (Pointer) + 600.perlbench (Compute) + 471.omnetpp (Graph Traversal) on 8MB shared LLC.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CPU 0 (gcc): IPC increases from 0.4248 to 2.1800 (5.13x Speedup / +413% Boost) because useful prefetches hit and promote to MRU.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CPU 1 (mcf): Low-priority insertion prevents mcf's inaccurate pointer noise from thrashing the shared LLC; IPC improves from 0.0743 to 0.0993 (+33.6%).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CPU 2 (perlbench): Working set preserved with stable IPC at 2.019 (protected from cross-core interference).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CPU 3 (omnetpp): Cross-core cache pollution suppressed; IPC increases from 0.2566 to 0.3207 (+25.0%).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Hardware Cost: ZERO extra bits (0 Bytes storage overhead).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5. Quantitative Comparison Against State-of-the-Art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65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[BENCHMARKING]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Chirag Sharma (S20240010223)  |  Guide: Dr. Bheemappa Halavar  |  IIIT Sri City  |  Slide 6 of 7</a:t>
            </a:r>
          </a:p>
        </p:txBody>
      </p:sp>
      <p:pic>
        <p:nvPicPr>
          <p:cNvPr id="7" name="Picture 6" descr="chart_storage_vs_miss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371600"/>
            <a:ext cx="4937760" cy="3096561"/>
          </a:xfrm>
          <a:prstGeom prst="rect">
            <a:avLst/>
          </a:prstGeom>
        </p:spPr>
      </p:pic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943600" y="1371600"/>
          <a:ext cx="5486400" cy="365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1600"/>
                <a:gridCol w="1371600"/>
                <a:gridCol w="1371600"/>
                <a:gridCol w="1371600"/>
              </a:tblGrid>
              <a:tr h="45720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Policy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LLC Misses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Hit Rate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38BDF8"/>
                          </a:solidFill>
                          <a:latin typeface="Arial"/>
                        </a:defRPr>
                      </a:pPr>
                      <a:r>
                        <a:t>Storage Cost</a:t>
                      </a:r>
                    </a:p>
                  </a:txBody>
                  <a:tcPr>
                    <a:solidFill>
                      <a:srgbClr val="0F172A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LRU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15,720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73.80%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Bytes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Baseline SRRIP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15,682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73.86%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0 Bytes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DRRIP (Set Dueling)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15,617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73.97%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16 Bytes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SHiP (8K SHCT)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14,589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75.68%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>
                          <a:solidFill>
                            <a:srgbClr val="FFFFFF"/>
                          </a:solidFill>
                          <a:latin typeface="Arial"/>
                        </a:defRPr>
                      </a:pPr>
                      <a:r>
                        <a:t>2,048 Bytes (2 KB)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PA-LRU (Ours)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15,528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74.12%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 Bytes (Zero Cost)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PA-SRRIP (Ours)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15,507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74.15%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 Bytes (Zero Cost)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PA-Adaptive (Ours)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15,503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74.16%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950" b="1">
                          <a:solidFill>
                            <a:srgbClr val="10B981"/>
                          </a:solidFill>
                          <a:latin typeface="Arial"/>
                        </a:defRPr>
                      </a:pPr>
                      <a:r>
                        <a:t>0.75 Bytes (6 bits)</a:t>
                      </a:r>
                    </a:p>
                  </a:txBody>
                  <a:tcPr>
                    <a:solidFill>
                      <a:srgbClr val="182231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5943600" y="5303520"/>
            <a:ext cx="54864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Pareto Efficiency: PA-SRRIP and PA-Adaptive deliver miss reduction over standard SRRIP and DRRIP while eliminating the 2 KB dedicated SRAM storage cost of SHiP.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3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38BD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72865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1">
                <a:solidFill>
                  <a:srgbClr val="FFFFFF"/>
                </a:solidFill>
                <a:latin typeface="Arial"/>
              </a:defRPr>
            </a:pPr>
            <a:r>
              <a:t>6. 1-Month Milestone Roadmap to Final Evaluation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326880" y="365760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>
              <a:defRPr sz="1100" b="1">
                <a:solidFill>
                  <a:srgbClr val="10B981"/>
                </a:solidFill>
                <a:latin typeface="Arial"/>
              </a:defRPr>
            </a:pPr>
            <a:r>
              <a:t>[TIMELINE &amp; TARGETS]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6309360"/>
            <a:ext cx="10728655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  <a:latin typeface="Arial"/>
              </a:defRPr>
            </a:pPr>
            <a:r>
              <a:t>Chirag Sharma (S20240010223)  |  Guide: Dr. Bheemappa Halavar  |  IIIT Sri City  |  Slide 7 of 7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12801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68680" y="14173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38BDF8"/>
                </a:solidFill>
                <a:latin typeface="Arial"/>
              </a:defRPr>
            </a:pPr>
            <a:r>
              <a:t>Completed Milestones &amp; Near-Term Goals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Mid-Evaluation Milestone (Completed Today):</a:t>
            </a:r>
            <a:br/>
            <a:r>
              <a:t> • Implemented PA-LRU, PA-SRRIP, and PA-Adaptive modules.</a:t>
            </a:r>
            <a:br/>
            <a:r>
              <a:t> • ChampSim 1-core and 4-core evaluation framework verified.</a:t>
            </a:r>
            <a:br/>
            <a:r>
              <a:t> • 5.13x speedup proven on heterogeneous multicore mixes.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Week 1 (Oct 22 - Oct 28): Multicore Scaling on GPU Node:</a:t>
            </a:r>
            <a:br/>
            <a:r>
              <a:t> • Execute 8-core and 16-core shared LLC simulations under severe pointer contention (mcf × 8, mcf × 16).</a:t>
            </a:r>
            <a:br/>
            <a:r>
              <a:t> • Benchmark aggressive prefetchers: SPP, AMPM, IP-Stride, Bingo.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Week 2 (Oct 29 - Nov 05): Drishti Slicing &amp; Interconnect:</a:t>
            </a:r>
            <a:br/>
            <a:r>
              <a:t> • Model per-slice prefetch awareness accounting for ring/mesh non-uniform cache access (NUCA) latencies.</a:t>
            </a:r>
            <a:br/>
            <a:r>
              <a:t> • Evaluate synergy with Drishti's per-core GPHT reuse tables.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309360" y="1280160"/>
            <a:ext cx="5120640" cy="4663440"/>
          </a:xfrm>
          <a:prstGeom prst="roundRect">
            <a:avLst/>
          </a:prstGeom>
          <a:solidFill>
            <a:srgbClr val="1E293B"/>
          </a:solidFill>
          <a:ln w="12700">
            <a:solidFill>
              <a:srgbClr val="3341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446520" y="1417320"/>
            <a:ext cx="4846320" cy="4389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 b="1">
                <a:solidFill>
                  <a:srgbClr val="10B981"/>
                </a:solidFill>
                <a:latin typeface="Arial"/>
              </a:defRPr>
            </a:pPr>
            <a:r>
              <a:t>Full Benchmarks &amp; Final Deliverables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Week 3 (Nov 06 - Nov 12): Full SPEC 2017 Expansion:</a:t>
            </a:r>
            <a:br/>
            <a:r>
              <a:t> • Scale evaluation across 15+ SPEC CPU traces (lbm, milc, namd, bzip2, xalancbmk, leela, wrf).</a:t>
            </a:r>
            <a:br/>
            <a:r>
              <a:t> • Conduct long simulation runs (100M - 200M instructions per core) on the server.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Week 4 (Nov 13 - End Eval): Thesis Defense &amp; Final Submission:</a:t>
            </a:r>
            <a:br/>
            <a:r>
              <a:t> • Comprehensive Energy-Delay Product (EDP), weighted speedup, and fairness index analysis.</a:t>
            </a:r>
            <a:br/>
            <a:r>
              <a:t> • Final BTP Thesis defense and research paper draft submission.</a:t>
            </a:r>
          </a:p>
          <a:p>
            <a:pPr>
              <a:spcAft>
                <a:spcPts val="600"/>
              </a:spcAft>
              <a:defRPr sz="1100">
                <a:solidFill>
                  <a:srgbClr val="FFFFFF"/>
                </a:solidFill>
                <a:latin typeface="Arial"/>
              </a:defRPr>
            </a:pPr>
            <a:r>
              <a:t>•  End-Evaluation Target: A complete, publishable research thesis demonstrating zero-overhead prefetch-resilient LLC management across 16-core sliced architectures.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